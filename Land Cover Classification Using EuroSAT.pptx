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12192000" cy="6858000" type="screen4x3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0330B/SVM-VS-RF-vs-KNN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70040"/>
            <a:ext cx="7620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50990"/>
            <a:ext cx="7620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86025" y="4641502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859309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MACHINE LEARNING PROJECT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18315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Land Cover Classification Using EuroSAT</a:t>
            </a:r>
            <a:endParaRPr sz="3900" b="1" i="0" u="none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512790"/>
            <a:ext cx="6762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Space Grotesk"/>
              </a:rPr>
              <a:t>Comparing SVM, Random Forest, and K-Nearest Neighbors on Satellite Imagery</a:t>
            </a:r>
            <a:endParaRPr sz="1500" b="0" i="0" u="none">
              <a:solidFill>
                <a:srgbClr val="94A3B8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589115"/>
            <a:ext cx="96012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pace Grotesk"/>
              </a:rPr>
              <a:t>Presented </a:t>
            </a:r>
            <a:r>
              <a:rPr lang="en-US" sz="1050" b="0" i="0" u="none">
                <a:solidFill>
                  <a:srgbClr val="64748B"/>
                </a:solidFill>
                <a:latin typeface="Space Grotesk"/>
              </a:rPr>
              <a:t>B</a:t>
            </a:r>
            <a:r>
              <a:rPr sz="1050" b="0" i="0" u="none">
                <a:solidFill>
                  <a:srgbClr val="64748B"/>
                </a:solidFill>
                <a:latin typeface="Space Grotesk"/>
              </a:rPr>
              <a:t>y</a:t>
            </a:r>
            <a:endParaRPr sz="105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4817715"/>
            <a:ext cx="1964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Space Grotesk"/>
              </a:rPr>
              <a:t>Sushil Sharma Subedi</a:t>
            </a:r>
            <a:endParaRPr sz="1200" b="0" i="0" u="none">
              <a:solidFill>
                <a:srgbClr val="E2E8F0"/>
              </a:solidFill>
              <a:latin typeface="Space Grotesk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609600" y="5131405"/>
            <a:ext cx="8001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>
                <a:solidFill>
                  <a:srgbClr val="64748B"/>
                </a:solidFill>
                <a:latin typeface="Space Grotesk"/>
              </a:rPr>
              <a:t>Student ID</a:t>
            </a:r>
            <a:endParaRPr lang="en-US" sz="105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609600" y="5340955"/>
            <a:ext cx="109728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i="0" u="none">
                <a:solidFill>
                  <a:srgbClr val="E2E8F0"/>
                </a:solidFill>
                <a:latin typeface="Space Grotesk"/>
              </a:rPr>
              <a:t>202652620003</a:t>
            </a:r>
            <a:endParaRPr lang="en-US" sz="1200" b="0" i="0" u="none">
              <a:solidFill>
                <a:srgbClr val="E2E8F0"/>
              </a:solidFill>
              <a:latin typeface="Space Grotesk"/>
            </a:endParaRPr>
          </a:p>
        </p:txBody>
      </p:sp>
      <p:sp>
        <p:nvSpPr>
          <p:cNvPr id="15" name="TextBox 8"/>
          <p:cNvSpPr txBox="1"/>
          <p:nvPr/>
        </p:nvSpPr>
        <p:spPr>
          <a:xfrm>
            <a:off x="609600" y="6063585"/>
            <a:ext cx="12700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lang="en-US" sz="1200" b="0" i="0" u="none">
              <a:solidFill>
                <a:srgbClr val="E2E8F0"/>
              </a:solidFill>
              <a:latin typeface="Space Grotesk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609600" y="5663535"/>
            <a:ext cx="152019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>
                <a:solidFill>
                  <a:srgbClr val="64748B"/>
                </a:solidFill>
                <a:latin typeface="Space Grotesk"/>
              </a:rPr>
              <a:t>Project Github link</a:t>
            </a:r>
            <a:endParaRPr lang="en-US" sz="105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609600" y="5873085"/>
            <a:ext cx="100584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i="0" u="none">
                <a:solidFill>
                  <a:srgbClr val="E2E8F0"/>
                </a:solidFill>
                <a:latin typeface="Space Grotesk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Github Link</a:t>
            </a:r>
            <a:endParaRPr lang="en-US" sz="1200" b="0" i="0" u="none">
              <a:solidFill>
                <a:srgbClr val="E2E8F0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1451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181451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1814512"/>
            <a:ext cx="2072729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690" y="181451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670" y="1814512"/>
            <a:ext cx="2072729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2436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580" y="442436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9560" y="4424362"/>
            <a:ext cx="2072729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4690" y="4424362"/>
            <a:ext cx="207258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670" y="4424362"/>
            <a:ext cx="2072729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1919287"/>
            <a:ext cx="1863030" cy="1047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55" y="1919287"/>
            <a:ext cx="1863030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335" y="1919287"/>
            <a:ext cx="1863179" cy="1047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465" y="1919287"/>
            <a:ext cx="1863030" cy="1047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445" y="1919287"/>
            <a:ext cx="1863179" cy="1047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529137"/>
            <a:ext cx="1863030" cy="1047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9355" y="4529137"/>
            <a:ext cx="1863030" cy="1047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4335" y="4529137"/>
            <a:ext cx="1863179" cy="1047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9465" y="4529137"/>
            <a:ext cx="1863030" cy="1047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4445" y="4529137"/>
            <a:ext cx="1863179" cy="1047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EuroSAT: 10 Land-Cover Categories</a:t>
            </a:r>
            <a:endParaRPr sz="225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9048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Visual samples representing the diverse classes in the dataset.</a:t>
            </a:r>
            <a:endParaRPr sz="1200" b="0" i="0" u="none">
              <a:solidFill>
                <a:srgbClr val="475569"/>
              </a:solidFill>
              <a:latin typeface="Space Grotesk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1496" y="304323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Sea / Lake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06476" y="304323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River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1438" y="3043237"/>
            <a:ext cx="23289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Residential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56586" y="304323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Permanent Crop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81548" y="3043237"/>
            <a:ext cx="23289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Herbaceous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496" y="565308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Industrial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06476" y="565308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Highway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1438" y="5653087"/>
            <a:ext cx="23289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Pasture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56586" y="5653087"/>
            <a:ext cx="232878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Annual Crop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81548" y="5653087"/>
            <a:ext cx="23289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pace Grotesk"/>
              </a:rPr>
              <a:t>Forest</a:t>
            </a:r>
            <a:endParaRPr sz="975" b="1" i="0" u="none">
              <a:solidFill>
                <a:srgbClr val="0F172A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19225"/>
            <a:ext cx="5334000" cy="4981575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19225"/>
            <a:ext cx="5334000" cy="4981575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Problem Statement &amp; Objectives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Why automate land-cover classification on satellite image collections?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2500" y="3048000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Space Grotesk"/>
              </a:rPr>
              <a:t>The Problem</a:t>
            </a:r>
            <a:endParaRPr sz="15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00" y="3448050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Space Grotesk"/>
              </a:rPr>
              <a:t>Satellite image collections contain numerous diverse land types. Manual sorting is slow, tedious, and inconsistent.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00" y="4371975"/>
            <a:ext cx="4743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Example: Automating thousands of photos into Forest, Farmland, and Water folders.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1300" y="3024187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Space Grotesk"/>
              </a:rPr>
              <a:t>Project Goals</a:t>
            </a:r>
            <a:endParaRPr sz="15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4650" y="3423285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Space Grotesk"/>
              </a:rPr>
              <a:t>•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1800" y="3424237"/>
            <a:ext cx="5410200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Space Grotesk"/>
              </a:rPr>
              <a:t>Build a robust supervised classification workflow.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24650" y="3697575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Space Grotesk"/>
              </a:rPr>
              <a:t>•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81800" y="3698527"/>
            <a:ext cx="45529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Space Grotesk"/>
              </a:rPr>
              <a:t>Extract color and edge/shape features from image patches.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24650" y="4246155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Space Grotesk"/>
              </a:rPr>
              <a:t>•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1800" y="4247108"/>
            <a:ext cx="45529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Space Grotesk"/>
              </a:rPr>
              <a:t>Compare SVM, Random Forest, and KNN across performance metrics and training time.</a:t>
            </a:r>
            <a:endParaRPr sz="1350" b="0" i="0" u="none">
              <a:solidFill>
                <a:srgbClr val="334155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499745" y="3133725"/>
            <a:ext cx="3615055" cy="180149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2"/>
            </p:custDataLst>
          </p:nvPr>
        </p:nvSpPr>
        <p:spPr>
          <a:xfrm>
            <a:off x="4343400" y="3019425"/>
            <a:ext cx="3612515" cy="191579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>
            <p:custDataLst>
              <p:tags r:id="rId3"/>
            </p:custDataLst>
          </p:nvPr>
        </p:nvSpPr>
        <p:spPr>
          <a:xfrm>
            <a:off x="8077200" y="3019425"/>
            <a:ext cx="3505200" cy="19208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Feature Extraction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Representing each image patch as a numerical feature vector (1,866 dimensions).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38200" y="3362325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Color Histograms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38200" y="3676650"/>
            <a:ext cx="3143250" cy="911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32-bin histogram per RGB channel plus statistical moments (Mean &amp; Std).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  <a:p>
            <a:pPr algn="l">
              <a:lnSpc>
                <a:spcPts val="1800"/>
              </a:lnSpc>
            </a:pPr>
            <a:endParaRPr sz="1200" b="0" i="0" u="none">
              <a:solidFill>
                <a:srgbClr val="334155"/>
              </a:solidFill>
              <a:latin typeface="Space Grotesk"/>
            </a:endParaRPr>
          </a:p>
          <a:p>
            <a:pPr algn="l">
              <a:lnSpc>
                <a:spcPts val="1800"/>
              </a:lnSpc>
            </a:pP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33400" y="4599940"/>
            <a:ext cx="3580765" cy="3359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Space Grotesk"/>
              </a:rPr>
              <a:t>96 dimensions</a:t>
            </a:r>
            <a:r>
              <a:rPr sz="1050" b="0" i="0" u="none">
                <a:solidFill>
                  <a:srgbClr val="64748B"/>
                </a:solidFill>
                <a:latin typeface="Space Grotesk"/>
              </a:rPr>
              <a:t> capturing spectral properties.</a:t>
            </a:r>
            <a:endParaRPr sz="105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4572000" y="3248025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HOG Descriptors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572000" y="3562350"/>
            <a:ext cx="314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Histogram of Oriented Gradients measuring edges and structural shape patterns.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4572000" y="4362450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Space Grotesk"/>
              </a:rPr>
              <a:t>1,764 dimensions</a:t>
            </a:r>
            <a:r>
              <a:rPr sz="1050" b="0" i="0" u="none">
                <a:solidFill>
                  <a:srgbClr val="64748B"/>
                </a:solidFill>
                <a:latin typeface="Space Grotesk"/>
              </a:rPr>
              <a:t> capturing spatial layout.</a:t>
            </a:r>
            <a:endParaRPr sz="105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8305800" y="3248025"/>
            <a:ext cx="388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Combined Vector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8305800" y="3562350"/>
            <a:ext cx="314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Concatenated spectral and HOG features unified for classical machine learning models.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8305800" y="4362450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Space Grotesk"/>
              </a:rPr>
              <a:t>1,866 total features</a:t>
            </a:r>
            <a:r>
              <a:rPr sz="1050" b="0" i="0" u="none">
                <a:solidFill>
                  <a:srgbClr val="64748B"/>
                </a:solidFill>
                <a:latin typeface="Space Grotesk"/>
              </a:rPr>
              <a:t> per patch.</a:t>
            </a:r>
            <a:endParaRPr sz="1050" b="0" i="0" u="none">
              <a:solidFill>
                <a:srgbClr val="64748B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25717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62287"/>
            <a:ext cx="25717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62287"/>
            <a:ext cx="25717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62287"/>
            <a:ext cx="25717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Dataset: EuroSAT Balanced Subset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Curated satellite image subset for efficient benchmaking.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506" y="3328987"/>
            <a:ext cx="2547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Space Grotesk"/>
              </a:rPr>
              <a:t>10,000</a:t>
            </a:r>
            <a:endParaRPr sz="36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506" y="3986212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Space Grotesk"/>
              </a:rPr>
              <a:t>Total Images</a:t>
            </a:r>
            <a:endParaRPr sz="1200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1856" y="3328987"/>
            <a:ext cx="2547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Space Grotesk"/>
              </a:rPr>
              <a:t>10</a:t>
            </a:r>
            <a:endParaRPr sz="36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1856" y="3986212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Space Grotesk"/>
              </a:rPr>
              <a:t>Land-Cover Classes</a:t>
            </a:r>
            <a:endParaRPr sz="1200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2206" y="3328987"/>
            <a:ext cx="2547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Space Grotesk"/>
              </a:rPr>
              <a:t>64×64</a:t>
            </a:r>
            <a:endParaRPr sz="36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2206" y="3986212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Space Grotesk"/>
              </a:rPr>
              <a:t>Pixels per Patch (RGB)</a:t>
            </a:r>
            <a:endParaRPr sz="1200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22556" y="3328987"/>
            <a:ext cx="2547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Space Grotesk"/>
              </a:rPr>
              <a:t>1,000</a:t>
            </a:r>
            <a:endParaRPr sz="360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22556" y="3986212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Space Grotesk"/>
              </a:rPr>
              <a:t>Images per Class</a:t>
            </a:r>
            <a:endParaRPr sz="1200" b="1" i="0" u="none">
              <a:solidFill>
                <a:srgbClr val="334155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Implementation: Feature Extraction Code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Combining spectral color moments and HOG spatial descriptors.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pic>
        <p:nvPicPr>
          <p:cNvPr id="7" name="Picture 6" descr="c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125" y="1114425"/>
            <a:ext cx="5222875" cy="5764530"/>
          </a:xfrm>
          <a:prstGeom prst="rect">
            <a:avLst/>
          </a:prstGeom>
        </p:spPr>
      </p:pic>
      <p:pic>
        <p:nvPicPr>
          <p:cNvPr id="8" name="Picture 7" descr="cod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425"/>
            <a:ext cx="5267960" cy="5763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0375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4675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4675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Methodology &amp; Data Split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A rigorous and consistent workflow across all models.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300" y="3267075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1. Data Partitioning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3600450"/>
            <a:ext cx="3067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80% Training (8,000 samples) and 20% Testing (2,000 samples) with stratification to preserve class proportions.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0100" y="3381375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2. Pipeline Scaling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0100" y="3714750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StandardScaler fitted strictly within SVM and KNN pipelines to prevent data leakage.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381375"/>
            <a:ext cx="3848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3. Reproducibility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14750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Space Grotesk"/>
              </a:rPr>
              <a:t>Configured with fixed random state (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random_state=42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) and parallel processing.</a:t>
            </a:r>
            <a:endParaRPr sz="1200" b="0" i="0" u="none">
              <a:solidFill>
                <a:srgbClr val="334155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Implementation: Model Pipelines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Configuring pipelines for SVM, Random Forest, and KNN.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pic>
        <p:nvPicPr>
          <p:cNvPr id="13" name="Picture 12" descr="cod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3190"/>
            <a:ext cx="12192000" cy="5464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350520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4200"/>
            <a:ext cx="350520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9915"/>
            <a:ext cx="3775710" cy="1515745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The Three Algorithms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Evaluating different learning paradigms on identical features.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352800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Support Vector Machine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648075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pace Grotesk"/>
              </a:rPr>
              <a:t>RBF kernel with C=10.0 and scaled features for non-linear boundaries.</a:t>
            </a:r>
            <a:endParaRPr sz="1050" b="0" i="0" u="none">
              <a:solidFill>
                <a:srgbClr val="475569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105275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Analogy: Draw optimal boundaries separating categories.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3352800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Random Forest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3648075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pace Grotesk"/>
              </a:rPr>
              <a:t>Ensemble of 200 decision trees making decisions using feature rules.</a:t>
            </a:r>
            <a:endParaRPr sz="1050" b="0" i="0" u="none">
              <a:solidFill>
                <a:srgbClr val="475569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4105275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Analogy: Combine votes from many decision-makers.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05800" y="3433762"/>
            <a:ext cx="388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K-Nearest Neighbors</a:t>
            </a:r>
            <a:endParaRPr sz="1350" b="1" i="0" u="none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05800" y="3729037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pace Grotesk"/>
              </a:rPr>
              <a:t>Distance-based classification with k=5 and feature scaling.</a:t>
            </a:r>
            <a:endParaRPr sz="1050" b="0" i="0" u="none">
              <a:solidFill>
                <a:srgbClr val="475569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5800" y="4186237"/>
            <a:ext cx="381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Analogy: Query the 5 closest training examples.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190750"/>
            <a:ext cx="53340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62325"/>
            <a:ext cx="53340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4533900"/>
            <a:ext cx="53340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Results: Model Performance Comparison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Accuracy and Macro F1 scores across the 2,000-image test set.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38900" y="2381250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SVM (RBF)</a:t>
            </a:r>
            <a:endParaRPr sz="12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38900" y="2638425"/>
            <a:ext cx="5753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Space Grotesk"/>
              </a:rPr>
              <a:t>Accuracy: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78.85%</a:t>
            </a:r>
            <a:r>
              <a:rPr sz="1125" b="0" i="0" u="none">
                <a:solidFill>
                  <a:srgbClr val="334155"/>
                </a:solidFill>
                <a:latin typeface="Space Grotesk"/>
              </a:rPr>
              <a:t> | Macro F1: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78.85%</a:t>
            </a:r>
            <a:endParaRPr sz="1125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8900" y="2857500"/>
            <a:ext cx="5753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Training time: 35.83s (Highest accuracy)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8900" y="3552825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Random Forest</a:t>
            </a:r>
            <a:endParaRPr sz="12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8900" y="3810000"/>
            <a:ext cx="5753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Space Grotesk"/>
              </a:rPr>
              <a:t>Accuracy: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78.60%</a:t>
            </a:r>
            <a:r>
              <a:rPr sz="1125" b="0" i="0" u="none">
                <a:solidFill>
                  <a:srgbClr val="334155"/>
                </a:solidFill>
                <a:latin typeface="Space Grotesk"/>
              </a:rPr>
              <a:t> | Macro F1: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78.11%</a:t>
            </a:r>
            <a:endParaRPr sz="1125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8900" y="4029075"/>
            <a:ext cx="5753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Training time: 2.07s (Nearly identical accuracy, much faster)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8900" y="4724400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KNN (k=5)</a:t>
            </a:r>
            <a:endParaRPr sz="12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8900" y="4981575"/>
            <a:ext cx="5753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Space Grotesk"/>
              </a:rPr>
              <a:t>Accuracy: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38.15%</a:t>
            </a:r>
            <a:r>
              <a:rPr sz="1125" b="0" i="0" u="none">
                <a:solidFill>
                  <a:srgbClr val="334155"/>
                </a:solidFill>
                <a:latin typeface="Space Grotesk"/>
              </a:rPr>
              <a:t> | Macro F1: </a:t>
            </a:r>
            <a:r>
              <a:rPr sz="1125" b="1" i="0" u="none">
                <a:solidFill>
                  <a:srgbClr val="334155"/>
                </a:solidFill>
                <a:latin typeface="Space Grotesk"/>
              </a:rPr>
              <a:t>33.94%</a:t>
            </a:r>
            <a:endParaRPr sz="1125" b="1" i="0" u="none">
              <a:solidFill>
                <a:srgbClr val="334155"/>
              </a:solidFill>
              <a:latin typeface="Space Grotesk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38900" y="5200650"/>
            <a:ext cx="5753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Training time: 0.16s (Fastest training, lower performance)</a:t>
            </a:r>
            <a:endParaRPr sz="975" b="0" i="0" u="none">
              <a:solidFill>
                <a:srgbClr val="64748B"/>
              </a:solidFill>
              <a:latin typeface="Space Grotesk"/>
            </a:endParaRPr>
          </a:p>
        </p:txBody>
      </p:sp>
      <p:pic>
        <p:nvPicPr>
          <p:cNvPr id="18" name="Picture 17" descr="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189990"/>
            <a:ext cx="6237605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Confusion Matrix: SVM (RBF)</a:t>
            </a:r>
            <a:endParaRPr sz="24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Detailed class-wise misclassifications and confusion patterns.</a:t>
            </a:r>
            <a:endParaRPr sz="1200" b="0" i="0" u="none">
              <a:solidFill>
                <a:srgbClr val="64748B"/>
              </a:solidFill>
              <a:latin typeface="Space Grotesk"/>
            </a:endParaRPr>
          </a:p>
        </p:txBody>
      </p:sp>
      <p:pic>
        <p:nvPicPr>
          <p:cNvPr id="6" name="Picture 5" descr="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345" y="1046480"/>
            <a:ext cx="5807710" cy="5807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3262312"/>
            <a:ext cx="3022550" cy="1295400"/>
          </a:xfrm>
          <a:prstGeom prst="roundRect">
            <a:avLst>
              <a:gd name="adj" fmla="val 88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84650" y="3262312"/>
            <a:ext cx="3022550" cy="1295400"/>
          </a:xfrm>
          <a:prstGeom prst="roundRect">
            <a:avLst>
              <a:gd name="adj" fmla="val 88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35800" y="3262312"/>
            <a:ext cx="3022550" cy="1295400"/>
          </a:xfrm>
          <a:prstGeom prst="roundRect">
            <a:avLst>
              <a:gd name="adj" fmla="val 88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9349" y="1738312"/>
            <a:ext cx="6413301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Space Grotesk"/>
              </a:rPr>
              <a:t>Conclusion &amp; Takeaways</a:t>
            </a:r>
            <a:endParaRPr sz="3300" b="1" i="0" u="none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3500" y="2424112"/>
            <a:ext cx="9525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Space Grotesk"/>
              </a:rPr>
              <a:t>Traditional machine learning effectively classifies satellite land-cover images using engineered visual features.</a:t>
            </a:r>
            <a:endParaRPr sz="1500" b="0" i="0" u="none">
              <a:solidFill>
                <a:srgbClr val="94A3B8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9859" y="4900612"/>
            <a:ext cx="3012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JetBrains Mono"/>
              </a:rPr>
              <a:t>Thank you! | Questions?</a:t>
            </a:r>
            <a:endParaRPr sz="13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2100" y="3490912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SVM (78.85%)</a:t>
            </a:r>
            <a:endParaRPr sz="1350" b="1" i="0" u="none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2100" y="3786187"/>
            <a:ext cx="2660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Space Grotesk"/>
              </a:rPr>
              <a:t>Achieved the highest accuracy in this benchmark run.</a:t>
            </a:r>
            <a:endParaRPr sz="1125" b="0" i="0" u="none">
              <a:solidFill>
                <a:srgbClr val="CBD5E1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3250" y="3490912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Random Forest (78.60%)</a:t>
            </a:r>
            <a:endParaRPr sz="1350" b="1" i="0" u="none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3250" y="3786187"/>
            <a:ext cx="2660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Space Grotesk"/>
              </a:rPr>
              <a:t>Nearly identical accuracy with drastically faster training time.</a:t>
            </a:r>
            <a:endParaRPr sz="1125" b="0" i="0" u="none">
              <a:solidFill>
                <a:srgbClr val="CBD5E1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64400" y="3490912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Key Takeaway</a:t>
            </a:r>
            <a:endParaRPr sz="1350" b="1" i="0" u="none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64400" y="3786187"/>
            <a:ext cx="2660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Space Grotesk"/>
              </a:rPr>
              <a:t>Model choice depends on balancing accuracy, compute cost, and application goals.</a:t>
            </a:r>
            <a:endParaRPr sz="1125" b="0" i="0" u="none">
              <a:solidFill>
                <a:srgbClr val="CBD5E1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2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3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4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5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6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7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8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9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10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11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ags/tag12.xml><?xml version="1.0" encoding="utf-8"?>
<p:tagLst xmlns:p="http://schemas.openxmlformats.org/presentationml/2006/main">
  <p:tag name="KSO_WM_DIAGRAM_VIRTUALLY_FRAME" val="{&quot;height&quot;:151.9,&quot;left&quot;:39.35,&quot;top&quot;:237.75,&quot;width&quot;:920.6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3544</Words>
  <Application>WPS Presentation</Application>
  <PresentationFormat>On-screen Show (4:3)</PresentationFormat>
  <Paragraphs>200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JetBrains Mono</vt:lpstr>
      <vt:lpstr>Liberation Mono</vt:lpstr>
      <vt:lpstr>Space Grotesk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SHARMA SUBEDI SUSHIL</cp:lastModifiedBy>
  <cp:revision>5</cp:revision>
  <dcterms:created xsi:type="dcterms:W3CDTF">2013-01-27T09:14:00Z</dcterms:created>
  <dcterms:modified xsi:type="dcterms:W3CDTF">2026-10-28T16:44:53Z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1033-12.1.0.28022</vt:lpwstr>
  </property>
  <property fmtid="{D5CDD505-2E9C-101B-9397-08002B2CF9AE}" pid="3" name="ICV">
    <vt:lpwstr>BFAFF57D881D4FEABBAA4C53BAF3B28D_12</vt:lpwstr>
  </property>
</Properties>
</file>